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4" r:id="rId4"/>
    <p:sldId id="259" r:id="rId5"/>
    <p:sldId id="260" r:id="rId6"/>
    <p:sldId id="262" r:id="rId7"/>
    <p:sldId id="265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92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176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9949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4572000" cy="4297680"/>
          </a:xfrm>
          <a:prstGeom prst="rect">
            <a:avLst/>
          </a:prstGeom>
          <a:solidFill>
            <a:srgbClr val="162847"/>
          </a:solidFill>
          <a:ln w="12700">
            <a:solidFill>
              <a:srgbClr val="1E3A6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457200" y="548640"/>
            <a:ext cx="274320" cy="429768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914400" y="82296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Churn y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de Campañas Comerciales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Machine Learning aplicado a concesionarios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2880360"/>
            <a:ext cx="3474720" cy="27432"/>
          </a:xfrm>
          <a:prstGeom prst="rect">
            <a:avLst/>
          </a:prstGeom>
          <a:solidFill>
            <a:srgbClr val="2E4A72"/>
          </a:solidFill>
          <a:ln w="12700">
            <a:solidFill>
              <a:srgbClr val="2E4A7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200" dirty="0">
                <a:solidFill>
                  <a:schemeClr val="bg1">
                    <a:lumMod val="85000"/>
                  </a:schemeClr>
                </a:solidFill>
              </a:rPr>
              <a:t>Análisis de clientes y optimización de retención</a:t>
            </a:r>
            <a:endParaRPr lang="en-US" sz="12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914400" y="33101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histórico: 58,049 clients ·  Período: 2018–2023  ·  Modelo: LightGBM  ·  AUC 0.793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3794760"/>
            <a:ext cx="1325880" cy="822960"/>
          </a:xfrm>
          <a:prstGeom prst="rect">
            <a:avLst/>
          </a:prstGeom>
          <a:solidFill>
            <a:srgbClr val="0D2240"/>
          </a:solidFill>
          <a:ln w="12700">
            <a:solidFill>
              <a:srgbClr val="2E4A7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640080" y="3822192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10,046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0080" y="422452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analizados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057400" y="3794760"/>
            <a:ext cx="1325880" cy="822960"/>
          </a:xfrm>
          <a:prstGeom prst="rect">
            <a:avLst/>
          </a:prstGeom>
          <a:solidFill>
            <a:srgbClr val="0D2240"/>
          </a:solidFill>
          <a:ln w="12700">
            <a:solidFill>
              <a:srgbClr val="2E4A7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2057400" y="3822192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€189K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057400" y="422452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riesgo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474720" y="3794760"/>
            <a:ext cx="1325880" cy="822960"/>
          </a:xfrm>
          <a:prstGeom prst="rect">
            <a:avLst/>
          </a:prstGeom>
          <a:solidFill>
            <a:srgbClr val="0D2240"/>
          </a:solidFill>
          <a:ln w="12700">
            <a:solidFill>
              <a:srgbClr val="2E4A7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3474720" y="3822192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28×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474720" y="422452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</a:t>
            </a:r>
            <a:r>
              <a:rPr lang="en-US" sz="8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potencial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212080" y="548640"/>
            <a:ext cx="3566160" cy="4297680"/>
          </a:xfrm>
          <a:prstGeom prst="rect">
            <a:avLst/>
          </a:prstGeom>
          <a:solidFill>
            <a:srgbClr val="162847"/>
          </a:solidFill>
          <a:ln w="12700">
            <a:solidFill>
              <a:srgbClr val="1E3A6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= cliente sin revisión en más de 400 días</a:t>
            </a:r>
            <a:endParaRPr lang="en-US" sz="1000" dirty="0"/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9570A341-F309-197C-5F00-505747ADE7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4918" y="702117"/>
            <a:ext cx="2660483" cy="39907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"/>
            <a:ext cx="9144000" cy="82296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822960"/>
          </a:xfrm>
          <a:prstGeom prst="rect">
            <a:avLst/>
          </a:prstGeom>
          <a:solidFill>
            <a:srgbClr val="E84A5F"/>
          </a:solidFill>
          <a:ln w="12700">
            <a:solidFill>
              <a:srgbClr val="E84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Situación actual: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 err="1">
                <a:solidFill>
                  <a:srgbClr val="E8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</a:t>
            </a:r>
            <a:r>
              <a:rPr lang="en-US" sz="1200" dirty="0">
                <a:solidFill>
                  <a:srgbClr val="E8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clientes y falta de priorización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932688"/>
            <a:ext cx="2743200" cy="3520440"/>
          </a:xfrm>
          <a:prstGeom prst="rect">
            <a:avLst/>
          </a:prstGeom>
          <a:solidFill>
            <a:srgbClr val="162C50"/>
          </a:solidFill>
          <a:ln w="12700">
            <a:solidFill>
              <a:srgbClr val="1E3A6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02920" y="10241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2514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identificación temprana del abandono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Campañas masivas → bajo retorno (ROI)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prioriza por valor del cliente (CLTV)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Churn: sin revisión en &gt;400 días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58,049 clientes históricos analizados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churn real en test: 3.1% (1,161 clientes)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932688"/>
            <a:ext cx="2423160" cy="3520440"/>
          </a:xfrm>
          <a:prstGeom prst="rect">
            <a:avLst/>
          </a:prstGeom>
          <a:solidFill>
            <a:srgbClr val="0D2240"/>
          </a:solidFill>
          <a:ln w="12700">
            <a:solidFill>
              <a:srgbClr val="1E3A6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3383280" y="102412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1371600"/>
            <a:ext cx="2240280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2E5E8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337560" y="13716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Datos de clientes</a:t>
            </a:r>
            <a:endParaRPr lang="en-US" sz="1000" dirty="0"/>
          </a:p>
          <a:p>
            <a:pPr algn="ctr"/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(25 variables, 58K </a:t>
            </a:r>
            <a:r>
              <a:rPr lang="en-US" sz="1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históricos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60520" y="182880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C4B6"/>
                </a:solidFill>
              </a:rPr>
              <a:t>▼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37560" y="1984248"/>
            <a:ext cx="2240280" cy="457200"/>
          </a:xfrm>
          <a:prstGeom prst="rect">
            <a:avLst/>
          </a:prstGeom>
          <a:solidFill>
            <a:srgbClr val="1B4F72"/>
          </a:solidFill>
          <a:ln w="12700">
            <a:solidFill>
              <a:srgbClr val="2E5E8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3337560" y="1984248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Modelo LightGBM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(AUC 0.793)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60520" y="244144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C4B6"/>
                </a:solidFill>
              </a:rPr>
              <a:t>▼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337560" y="2596896"/>
            <a:ext cx="2240280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2E5E8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3337560" y="2596896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P(churn) individual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cliente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60520" y="305409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C4B6"/>
                </a:solidFill>
              </a:rPr>
              <a:t>▼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337560" y="3209544"/>
            <a:ext cx="2240280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2E5E8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3337560" y="3209544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Priorización por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+ CLTV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60520" y="366674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C4B6"/>
                </a:solidFill>
              </a:rPr>
              <a:t>▼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337560" y="3822192"/>
            <a:ext cx="2240280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2E5E8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3337560" y="382219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Plan comercial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óptimo y accionable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797296" y="932688"/>
            <a:ext cx="3017520" cy="3520440"/>
          </a:xfrm>
          <a:prstGeom prst="rect">
            <a:avLst/>
          </a:prstGeom>
          <a:solidFill>
            <a:srgbClr val="0D2240"/>
          </a:solidFill>
          <a:ln w="12700">
            <a:solidFill>
              <a:srgbClr val="1E3A6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Shape 24"/>
          <p:cNvSpPr/>
          <p:nvPr/>
        </p:nvSpPr>
        <p:spPr>
          <a:xfrm>
            <a:off x="5852160" y="3584448"/>
            <a:ext cx="932688" cy="658368"/>
          </a:xfrm>
          <a:prstGeom prst="rect">
            <a:avLst/>
          </a:prstGeom>
          <a:solidFill>
            <a:srgbClr val="1B4F72"/>
          </a:solidFill>
          <a:ln w="12700">
            <a:solidFill>
              <a:srgbClr val="2E5E8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5"/>
          <p:cNvSpPr/>
          <p:nvPr/>
        </p:nvSpPr>
        <p:spPr>
          <a:xfrm>
            <a:off x="5852160" y="3674364"/>
            <a:ext cx="932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C4B6"/>
                </a:solidFill>
              </a:rPr>
              <a:t>LightGBM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5843016" y="3962400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</a:rPr>
              <a:t>Modelo ganador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6839712" y="3579876"/>
            <a:ext cx="932688" cy="658368"/>
          </a:xfrm>
          <a:prstGeom prst="rect">
            <a:avLst/>
          </a:prstGeom>
          <a:solidFill>
            <a:srgbClr val="1B4F72"/>
          </a:solidFill>
          <a:ln w="12700">
            <a:solidFill>
              <a:srgbClr val="2E5E8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8"/>
          <p:cNvSpPr/>
          <p:nvPr/>
        </p:nvSpPr>
        <p:spPr>
          <a:xfrm>
            <a:off x="6812280" y="3657600"/>
            <a:ext cx="932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C4B6"/>
                </a:solidFill>
              </a:rPr>
              <a:t>0.793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6821424" y="3962400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</a:rPr>
              <a:t>AUC-ROC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827264" y="3579876"/>
            <a:ext cx="932688" cy="658368"/>
          </a:xfrm>
          <a:prstGeom prst="rect">
            <a:avLst/>
          </a:prstGeom>
          <a:solidFill>
            <a:srgbClr val="1B4F72"/>
          </a:solidFill>
          <a:ln w="12700">
            <a:solidFill>
              <a:srgbClr val="2E5E8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31"/>
          <p:cNvSpPr/>
          <p:nvPr/>
        </p:nvSpPr>
        <p:spPr>
          <a:xfrm>
            <a:off x="7827264" y="3648456"/>
            <a:ext cx="932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C4B6"/>
                </a:solidFill>
              </a:rPr>
              <a:t>2.16×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7818120" y="3954780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</a:rPr>
              <a:t>Lift top 10%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E84A5F"/>
          </a:solidFill>
          <a:ln w="12700">
            <a:solidFill>
              <a:srgbClr val="E84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Shape 34"/>
          <p:cNvSpPr/>
          <p:nvPr/>
        </p:nvSpPr>
        <p:spPr>
          <a:xfrm>
            <a:off x="0" y="4617720"/>
            <a:ext cx="228600" cy="52578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Text 35"/>
          <p:cNvSpPr/>
          <p:nvPr/>
        </p:nvSpPr>
        <p:spPr>
          <a:xfrm>
            <a:off x="365760" y="4617720"/>
            <a:ext cx="85953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200" b="1" dirty="0">
                <a:solidFill>
                  <a:schemeClr val="bg1"/>
                </a:solidFill>
              </a:rPr>
              <a:t>El top 10% de clientes concentra el 20.2% del </a:t>
            </a:r>
            <a:r>
              <a:rPr lang="es-ES" sz="1200" b="1" dirty="0" err="1">
                <a:solidFill>
                  <a:schemeClr val="bg1"/>
                </a:solidFill>
              </a:rPr>
              <a:t>churn</a:t>
            </a:r>
            <a:r>
              <a:rPr lang="es-ES" sz="1200" b="1" dirty="0">
                <a:solidFill>
                  <a:schemeClr val="bg1"/>
                </a:solidFill>
              </a:rPr>
              <a:t>, lift 2.16× sobre campaña aleatoria.</a:t>
            </a:r>
            <a:endParaRPr lang="en-US" sz="1200" b="1" dirty="0">
              <a:solidFill>
                <a:schemeClr val="bg1"/>
              </a:solidFill>
            </a:endParaRPr>
          </a:p>
        </p:txBody>
      </p:sp>
      <p:pic>
        <p:nvPicPr>
          <p:cNvPr id="40" name="Imagen 39">
            <a:extLst>
              <a:ext uri="{FF2B5EF4-FFF2-40B4-BE49-F238E27FC236}">
                <a16:creationId xmlns:a16="http://schemas.microsoft.com/office/drawing/2014/main" id="{47B245CC-9BA7-5A43-A787-9A48EA3508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5333" y="1050036"/>
            <a:ext cx="2815475" cy="23728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g"/>
          <p:cNvSpPr/>
          <p:nvPr/>
        </p:nvSpPr>
        <p:spPr>
          <a:xfrm>
            <a:off x="0" y="201168"/>
            <a:ext cx="9144000" cy="82296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itleAcc"/>
          <p:cNvSpPr/>
          <p:nvPr/>
        </p:nvSpPr>
        <p:spPr>
          <a:xfrm>
            <a:off x="0" y="0"/>
            <a:ext cx="320040" cy="82296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itleTxt"/>
          <p:cNvSpPr/>
          <p:nvPr/>
        </p:nvSpPr>
        <p:spPr>
          <a:xfrm>
            <a:off x="457200" y="6400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/>
            <a:r>
              <a:rPr lang="es-ES" sz="2200" b="1" i="0" dirty="0">
                <a:solidFill>
                  <a:srgbClr val="FFFFFF"/>
                </a:solidFill>
                <a:latin typeface="Calibri"/>
              </a:rPr>
              <a:t>Modelo predictivo de churn</a:t>
            </a:r>
          </a:p>
        </p:txBody>
      </p:sp>
      <p:sp>
        <p:nvSpPr>
          <p:cNvPr id="5" name="SubTxt"/>
          <p:cNvSpPr/>
          <p:nvPr/>
        </p:nvSpPr>
        <p:spPr>
          <a:xfrm>
            <a:off x="457200" y="57607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/>
            <a:r>
              <a:rPr lang="es-ES" sz="1300" b="0" i="0" dirty="0">
                <a:solidFill>
                  <a:srgbClr val="F4A261"/>
                </a:solidFill>
                <a:latin typeface="Calibri"/>
              </a:rPr>
              <a:t>Evaluación de rendimiento y capacidad de identificación</a:t>
            </a:r>
          </a:p>
        </p:txBody>
      </p:sp>
      <p:sp>
        <p:nvSpPr>
          <p:cNvPr id="6" name="LP"/>
          <p:cNvSpPr/>
          <p:nvPr/>
        </p:nvSpPr>
        <p:spPr>
          <a:xfrm>
            <a:off x="274320" y="1115568"/>
            <a:ext cx="3977639" cy="1993392"/>
          </a:xfrm>
          <a:prstGeom prst="rect">
            <a:avLst/>
          </a:prstGeom>
          <a:solidFill>
            <a:srgbClr val="0F1F3D"/>
          </a:solidFill>
          <a:ln w="12700">
            <a:solidFill>
              <a:srgbClr val="2E4A7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LH"/>
          <p:cNvSpPr/>
          <p:nvPr/>
        </p:nvSpPr>
        <p:spPr>
          <a:xfrm>
            <a:off x="411479" y="1207008"/>
            <a:ext cx="379475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/>
            <a:r>
              <a:rPr lang="es-ES" sz="950" b="1" i="0" dirty="0">
                <a:solidFill>
                  <a:srgbClr val="F4A261"/>
                </a:solidFill>
                <a:latin typeface="Calibri"/>
              </a:rPr>
              <a:t>COMPARATIVA DE MODELOS</a:t>
            </a:r>
          </a:p>
        </p:txBody>
      </p:sp>
      <p:graphicFrame>
        <p:nvGraphicFramePr>
          <p:cNvPr id="8" name="Model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4803475"/>
              </p:ext>
            </p:extLst>
          </p:nvPr>
        </p:nvGraphicFramePr>
        <p:xfrm>
          <a:off x="393192" y="1517904"/>
          <a:ext cx="3739895" cy="1371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4309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89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s-ES" sz="1000" b="1" dirty="0">
                          <a:solidFill>
                            <a:srgbClr val="FFFFFF"/>
                          </a:solidFill>
                          <a:latin typeface="Calibri"/>
                        </a:rPr>
                        <a:t>Modelo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1" dirty="0">
                          <a:solidFill>
                            <a:srgbClr val="FFFFFF"/>
                          </a:solidFill>
                          <a:latin typeface="Calibri"/>
                        </a:rPr>
                        <a:t>AUC-ROC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05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</a:t>
                      </a:r>
                      <a:r>
                        <a:rPr lang="es-ES" sz="1050" b="1" dirty="0" err="1">
                          <a:solidFill>
                            <a:srgbClr val="2EC4B6"/>
                          </a:solidFill>
                          <a:latin typeface="Calibri"/>
                        </a:rPr>
                        <a:t>LightGBM</a:t>
                      </a:r>
                      <a:endParaRPr lang="es-ES" sz="1050" b="1" dirty="0">
                        <a:solidFill>
                          <a:srgbClr val="2EC4B6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0D22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b="1" dirty="0">
                          <a:solidFill>
                            <a:srgbClr val="2EC4B6"/>
                          </a:solidFill>
                          <a:latin typeface="Calibri"/>
                        </a:rPr>
                        <a:t>0.793</a:t>
                      </a:r>
                    </a:p>
                  </a:txBody>
                  <a:tcPr>
                    <a:solidFill>
                      <a:srgbClr val="0D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s-ES" sz="1000" b="0" dirty="0" err="1">
                          <a:solidFill>
                            <a:srgbClr val="CBD5E1"/>
                          </a:solidFill>
                          <a:latin typeface="Calibri"/>
                        </a:rPr>
                        <a:t>XGBoost</a:t>
                      </a:r>
                      <a:endParaRPr lang="es-ES" sz="1000" b="0" dirty="0">
                        <a:solidFill>
                          <a:srgbClr val="CBD5E1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0D22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0" dirty="0">
                          <a:solidFill>
                            <a:srgbClr val="CBD5E1"/>
                          </a:solidFill>
                          <a:latin typeface="Calibri"/>
                        </a:rPr>
                        <a:t>0.786</a:t>
                      </a:r>
                    </a:p>
                  </a:txBody>
                  <a:tcPr>
                    <a:solidFill>
                      <a:srgbClr val="0D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s-ES" sz="1000" b="0" dirty="0">
                          <a:solidFill>
                            <a:srgbClr val="CBD5E1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>
                    <a:solidFill>
                      <a:srgbClr val="0D22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0" dirty="0">
                          <a:solidFill>
                            <a:srgbClr val="CBD5E1"/>
                          </a:solidFill>
                          <a:latin typeface="Calibri"/>
                        </a:rPr>
                        <a:t>0.772</a:t>
                      </a:r>
                    </a:p>
                  </a:txBody>
                  <a:tcPr>
                    <a:solidFill>
                      <a:srgbClr val="0D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s-ES" sz="1000" b="0" dirty="0">
                          <a:solidFill>
                            <a:srgbClr val="CBD5E1"/>
                          </a:solidFill>
                          <a:latin typeface="Calibri"/>
                        </a:rPr>
                        <a:t>Reg. Logística</a:t>
                      </a:r>
                    </a:p>
                  </a:txBody>
                  <a:tcPr>
                    <a:solidFill>
                      <a:srgbClr val="0D22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0" dirty="0">
                          <a:solidFill>
                            <a:srgbClr val="CBD5E1"/>
                          </a:solidFill>
                          <a:latin typeface="Calibri"/>
                        </a:rPr>
                        <a:t>0.762</a:t>
                      </a:r>
                    </a:p>
                  </a:txBody>
                  <a:tcPr>
                    <a:solidFill>
                      <a:srgbClr val="0D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P"/>
          <p:cNvSpPr/>
          <p:nvPr/>
        </p:nvSpPr>
        <p:spPr>
          <a:xfrm>
            <a:off x="4389120" y="1115568"/>
            <a:ext cx="4480560" cy="1993392"/>
          </a:xfrm>
          <a:prstGeom prst="rect">
            <a:avLst/>
          </a:prstGeom>
          <a:solidFill>
            <a:srgbClr val="0F1F3D"/>
          </a:solidFill>
          <a:ln w="12700">
            <a:solidFill>
              <a:srgbClr val="2E4A7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RH"/>
          <p:cNvSpPr/>
          <p:nvPr/>
        </p:nvSpPr>
        <p:spPr>
          <a:xfrm>
            <a:off x="4526280" y="1207008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/>
            <a:r>
              <a:rPr lang="es-ES" sz="950" b="1" i="0" dirty="0">
                <a:solidFill>
                  <a:srgbClr val="2EC4B6"/>
                </a:solidFill>
                <a:latin typeface="Calibri"/>
              </a:rPr>
              <a:t>LIFT VS. ALEATORIO</a:t>
            </a:r>
          </a:p>
        </p:txBody>
      </p:sp>
      <p:sp>
        <p:nvSpPr>
          <p:cNvPr id="11" name="LLTop 10%"/>
          <p:cNvSpPr/>
          <p:nvPr/>
        </p:nvSpPr>
        <p:spPr>
          <a:xfrm>
            <a:off x="4498848" y="1572768"/>
            <a:ext cx="6035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/>
            <a:r>
              <a:rPr lang="es-ES" sz="1000" b="1" i="0" dirty="0">
                <a:solidFill>
                  <a:srgbClr val="FFFFFF"/>
                </a:solidFill>
                <a:latin typeface="Calibri"/>
              </a:rPr>
              <a:t>Top 10%</a:t>
            </a:r>
          </a:p>
        </p:txBody>
      </p:sp>
      <p:sp>
        <p:nvSpPr>
          <p:cNvPr id="12" name="BTTop 10%"/>
          <p:cNvSpPr/>
          <p:nvPr/>
        </p:nvSpPr>
        <p:spPr>
          <a:xfrm>
            <a:off x="5138928" y="1609344"/>
            <a:ext cx="2423160" cy="2468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BBTop 10%"/>
          <p:cNvSpPr/>
          <p:nvPr/>
        </p:nvSpPr>
        <p:spPr>
          <a:xfrm>
            <a:off x="5138928" y="1609344"/>
            <a:ext cx="2423160" cy="246888"/>
          </a:xfrm>
          <a:prstGeom prst="rect">
            <a:avLst/>
          </a:prstGeom>
          <a:solidFill>
            <a:srgbClr val="E84A5F"/>
          </a:solidFill>
          <a:ln w="12700">
            <a:solidFill>
              <a:srgbClr val="E84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BPTop 10%"/>
          <p:cNvSpPr/>
          <p:nvPr/>
        </p:nvSpPr>
        <p:spPr>
          <a:xfrm>
            <a:off x="7607808" y="1572768"/>
            <a:ext cx="457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/>
            <a:r>
              <a:rPr lang="es-ES" sz="900" b="0" i="0" dirty="0">
                <a:solidFill>
                  <a:srgbClr val="CBD5E1"/>
                </a:solidFill>
                <a:latin typeface="Calibri"/>
              </a:rPr>
              <a:t>20.2%</a:t>
            </a:r>
          </a:p>
        </p:txBody>
      </p:sp>
      <p:sp>
        <p:nvSpPr>
          <p:cNvPr id="15" name="BMTop 10%"/>
          <p:cNvSpPr/>
          <p:nvPr/>
        </p:nvSpPr>
        <p:spPr>
          <a:xfrm>
            <a:off x="8092440" y="1572768"/>
            <a:ext cx="4754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/>
            <a:r>
              <a:rPr lang="es-ES" sz="1050" b="1" i="0" dirty="0">
                <a:solidFill>
                  <a:srgbClr val="E84A5F"/>
                </a:solidFill>
                <a:latin typeface="Calibri"/>
              </a:rPr>
              <a:t>2.16×</a:t>
            </a:r>
          </a:p>
        </p:txBody>
      </p:sp>
      <p:sp>
        <p:nvSpPr>
          <p:cNvPr id="16" name="LLTop 20%"/>
          <p:cNvSpPr/>
          <p:nvPr/>
        </p:nvSpPr>
        <p:spPr>
          <a:xfrm>
            <a:off x="4498848" y="1947672"/>
            <a:ext cx="6035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/>
            <a:r>
              <a:rPr lang="es-ES" sz="1000" b="1" i="0" dirty="0">
                <a:solidFill>
                  <a:srgbClr val="FFFFFF"/>
                </a:solidFill>
                <a:latin typeface="Calibri"/>
              </a:rPr>
              <a:t>Top 20%</a:t>
            </a:r>
          </a:p>
        </p:txBody>
      </p:sp>
      <p:sp>
        <p:nvSpPr>
          <p:cNvPr id="17" name="BTTop 20%"/>
          <p:cNvSpPr/>
          <p:nvPr/>
        </p:nvSpPr>
        <p:spPr>
          <a:xfrm>
            <a:off x="5138928" y="1984248"/>
            <a:ext cx="2423160" cy="2468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BBTop 20%"/>
          <p:cNvSpPr/>
          <p:nvPr/>
        </p:nvSpPr>
        <p:spPr>
          <a:xfrm>
            <a:off x="5138928" y="1984248"/>
            <a:ext cx="2277770" cy="24688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BPTop 20%"/>
          <p:cNvSpPr/>
          <p:nvPr/>
        </p:nvSpPr>
        <p:spPr>
          <a:xfrm>
            <a:off x="7607808" y="1947672"/>
            <a:ext cx="457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/>
            <a:r>
              <a:rPr lang="es-ES" sz="900" b="0" i="0" dirty="0">
                <a:solidFill>
                  <a:srgbClr val="CBD5E1"/>
                </a:solidFill>
                <a:latin typeface="Calibri"/>
              </a:rPr>
              <a:t>47.0%</a:t>
            </a:r>
          </a:p>
        </p:txBody>
      </p:sp>
      <p:sp>
        <p:nvSpPr>
          <p:cNvPr id="20" name="BMTop 20%"/>
          <p:cNvSpPr/>
          <p:nvPr/>
        </p:nvSpPr>
        <p:spPr>
          <a:xfrm>
            <a:off x="8092440" y="1947672"/>
            <a:ext cx="4754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/>
            <a:r>
              <a:rPr lang="es-ES" sz="1050" b="1" i="0" dirty="0">
                <a:solidFill>
                  <a:srgbClr val="F4A261"/>
                </a:solidFill>
                <a:latin typeface="Calibri"/>
              </a:rPr>
              <a:t>2.0×</a:t>
            </a:r>
          </a:p>
        </p:txBody>
      </p:sp>
      <p:sp>
        <p:nvSpPr>
          <p:cNvPr id="21" name="LLTop 30%"/>
          <p:cNvSpPr/>
          <p:nvPr/>
        </p:nvSpPr>
        <p:spPr>
          <a:xfrm>
            <a:off x="4498848" y="2322576"/>
            <a:ext cx="6035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/>
            <a:r>
              <a:rPr lang="es-ES" sz="1000" b="1" i="0" dirty="0">
                <a:solidFill>
                  <a:srgbClr val="FFFFFF"/>
                </a:solidFill>
                <a:latin typeface="Calibri"/>
              </a:rPr>
              <a:t>Top 30%</a:t>
            </a:r>
          </a:p>
        </p:txBody>
      </p:sp>
      <p:sp>
        <p:nvSpPr>
          <p:cNvPr id="22" name="BTTop 30%"/>
          <p:cNvSpPr/>
          <p:nvPr/>
        </p:nvSpPr>
        <p:spPr>
          <a:xfrm>
            <a:off x="5138928" y="2359152"/>
            <a:ext cx="2423160" cy="2468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BBTop 30%"/>
          <p:cNvSpPr/>
          <p:nvPr/>
        </p:nvSpPr>
        <p:spPr>
          <a:xfrm>
            <a:off x="5138928" y="2359152"/>
            <a:ext cx="2035454" cy="2468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BPTop 30%"/>
          <p:cNvSpPr/>
          <p:nvPr/>
        </p:nvSpPr>
        <p:spPr>
          <a:xfrm>
            <a:off x="7607808" y="2322576"/>
            <a:ext cx="457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/>
            <a:r>
              <a:rPr lang="es-ES" sz="900" b="0" i="0" dirty="0">
                <a:solidFill>
                  <a:srgbClr val="CBD5E1"/>
                </a:solidFill>
                <a:latin typeface="Calibri"/>
              </a:rPr>
              <a:t>65.0%</a:t>
            </a:r>
          </a:p>
        </p:txBody>
      </p:sp>
      <p:sp>
        <p:nvSpPr>
          <p:cNvPr id="25" name="BMTop 30%"/>
          <p:cNvSpPr/>
          <p:nvPr/>
        </p:nvSpPr>
        <p:spPr>
          <a:xfrm>
            <a:off x="8092440" y="2322576"/>
            <a:ext cx="4754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/>
            <a:r>
              <a:rPr lang="es-ES" sz="1050" b="1" i="0" dirty="0">
                <a:solidFill>
                  <a:srgbClr val="60A5FA"/>
                </a:solidFill>
                <a:latin typeface="Calibri"/>
              </a:rPr>
              <a:t>1.8×</a:t>
            </a:r>
          </a:p>
        </p:txBody>
      </p:sp>
      <p:sp>
        <p:nvSpPr>
          <p:cNvPr id="26" name="LLTop 50%"/>
          <p:cNvSpPr/>
          <p:nvPr/>
        </p:nvSpPr>
        <p:spPr>
          <a:xfrm>
            <a:off x="4498848" y="2697480"/>
            <a:ext cx="6035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/>
            <a:r>
              <a:rPr lang="es-ES" sz="1000" b="1" i="0" dirty="0">
                <a:solidFill>
                  <a:srgbClr val="FFFFFF"/>
                </a:solidFill>
                <a:latin typeface="Calibri"/>
              </a:rPr>
              <a:t>Top 50%</a:t>
            </a:r>
          </a:p>
        </p:txBody>
      </p:sp>
      <p:sp>
        <p:nvSpPr>
          <p:cNvPr id="27" name="BTTop 50%"/>
          <p:cNvSpPr/>
          <p:nvPr/>
        </p:nvSpPr>
        <p:spPr>
          <a:xfrm>
            <a:off x="5138928" y="2734056"/>
            <a:ext cx="2423160" cy="2468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BBTop 50%"/>
          <p:cNvSpPr/>
          <p:nvPr/>
        </p:nvSpPr>
        <p:spPr>
          <a:xfrm>
            <a:off x="5138928" y="2734056"/>
            <a:ext cx="1478127" cy="24688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BPTop 50%"/>
          <p:cNvSpPr/>
          <p:nvPr/>
        </p:nvSpPr>
        <p:spPr>
          <a:xfrm>
            <a:off x="7607808" y="2697480"/>
            <a:ext cx="457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/>
            <a:r>
              <a:rPr lang="es-ES" sz="900" b="0" i="0" dirty="0">
                <a:solidFill>
                  <a:srgbClr val="CBD5E1"/>
                </a:solidFill>
                <a:latin typeface="Calibri"/>
              </a:rPr>
              <a:t>85.0%</a:t>
            </a:r>
          </a:p>
        </p:txBody>
      </p:sp>
      <p:sp>
        <p:nvSpPr>
          <p:cNvPr id="30" name="BMTop 50%"/>
          <p:cNvSpPr/>
          <p:nvPr/>
        </p:nvSpPr>
        <p:spPr>
          <a:xfrm>
            <a:off x="8092440" y="2697480"/>
            <a:ext cx="4754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/>
            <a:r>
              <a:rPr lang="es-ES" sz="1050" b="1" i="0" dirty="0">
                <a:solidFill>
                  <a:srgbClr val="2EC4B6"/>
                </a:solidFill>
                <a:latin typeface="Calibri"/>
              </a:rPr>
              <a:t>1.2×</a:t>
            </a:r>
          </a:p>
        </p:txBody>
      </p:sp>
      <p:sp>
        <p:nvSpPr>
          <p:cNvPr id="31" name="FIPan"/>
          <p:cNvSpPr/>
          <p:nvPr/>
        </p:nvSpPr>
        <p:spPr>
          <a:xfrm>
            <a:off x="274320" y="3218688"/>
            <a:ext cx="8595360" cy="1335024"/>
          </a:xfrm>
          <a:prstGeom prst="rect">
            <a:avLst/>
          </a:prstGeom>
          <a:solidFill>
            <a:srgbClr val="0F1F3D"/>
          </a:solidFill>
          <a:ln w="12700">
            <a:solidFill>
              <a:srgbClr val="2E4A7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FIHdr"/>
          <p:cNvSpPr/>
          <p:nvPr/>
        </p:nvSpPr>
        <p:spPr>
          <a:xfrm>
            <a:off x="411479" y="3291840"/>
            <a:ext cx="8366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/>
            <a:r>
              <a:rPr lang="es-ES" sz="950" b="1" i="0" dirty="0">
                <a:solidFill>
                  <a:srgbClr val="F4A261"/>
                </a:solidFill>
                <a:latin typeface="Calibri"/>
              </a:rPr>
              <a:t>VARIABLES MAS INFLUYENTES DEL MODELO (Top 10 - LightGBM)</a:t>
            </a:r>
          </a:p>
        </p:txBody>
      </p:sp>
      <p:sp>
        <p:nvSpPr>
          <p:cNvPr id="33" name="FL0"/>
          <p:cNvSpPr/>
          <p:nvPr/>
        </p:nvSpPr>
        <p:spPr>
          <a:xfrm>
            <a:off x="365759" y="3569817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/>
            <a:r>
              <a:rPr lang="es-ES" sz="780" b="1" i="0" dirty="0">
                <a:solidFill>
                  <a:srgbClr val="FFFFFF"/>
                </a:solidFill>
                <a:latin typeface="Calibri"/>
              </a:rPr>
              <a:t>Edad</a:t>
            </a:r>
          </a:p>
        </p:txBody>
      </p:sp>
      <p:sp>
        <p:nvSpPr>
          <p:cNvPr id="34" name="FT0"/>
          <p:cNvSpPr/>
          <p:nvPr/>
        </p:nvSpPr>
        <p:spPr>
          <a:xfrm>
            <a:off x="2167128" y="3645712"/>
            <a:ext cx="1417320" cy="85953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FB0"/>
          <p:cNvSpPr/>
          <p:nvPr/>
        </p:nvSpPr>
        <p:spPr>
          <a:xfrm>
            <a:off x="2167128" y="3645712"/>
            <a:ext cx="1417320" cy="85953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FV0"/>
          <p:cNvSpPr/>
          <p:nvPr/>
        </p:nvSpPr>
        <p:spPr>
          <a:xfrm>
            <a:off x="3621024" y="3569817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/>
            <a:r>
              <a:rPr lang="es-ES" sz="700" b="1" i="0" dirty="0">
                <a:solidFill>
                  <a:srgbClr val="2EC4B6"/>
                </a:solidFill>
                <a:latin typeface="Calibri"/>
              </a:rPr>
              <a:t>1071</a:t>
            </a:r>
          </a:p>
        </p:txBody>
      </p:sp>
      <p:sp>
        <p:nvSpPr>
          <p:cNvPr id="37" name="FL1"/>
          <p:cNvSpPr/>
          <p:nvPr/>
        </p:nvSpPr>
        <p:spPr>
          <a:xfrm>
            <a:off x="365759" y="374172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/>
            <a:r>
              <a:rPr lang="es-ES" sz="780" b="0" i="0" dirty="0">
                <a:solidFill>
                  <a:srgbClr val="CBD5E1"/>
                </a:solidFill>
                <a:latin typeface="Calibri"/>
              </a:rPr>
              <a:t>pvp_por_kw</a:t>
            </a:r>
          </a:p>
        </p:txBody>
      </p:sp>
      <p:sp>
        <p:nvSpPr>
          <p:cNvPr id="38" name="FT1"/>
          <p:cNvSpPr/>
          <p:nvPr/>
        </p:nvSpPr>
        <p:spPr>
          <a:xfrm>
            <a:off x="2167128" y="3817620"/>
            <a:ext cx="1417320" cy="85953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FB1"/>
          <p:cNvSpPr/>
          <p:nvPr/>
        </p:nvSpPr>
        <p:spPr>
          <a:xfrm>
            <a:off x="2167128" y="3817620"/>
            <a:ext cx="711956" cy="85953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FV1"/>
          <p:cNvSpPr/>
          <p:nvPr/>
        </p:nvSpPr>
        <p:spPr>
          <a:xfrm>
            <a:off x="3621024" y="3741724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/>
            <a:r>
              <a:rPr lang="es-ES" sz="700" b="0" i="0" dirty="0">
                <a:solidFill>
                  <a:srgbClr val="F4A261"/>
                </a:solidFill>
                <a:latin typeface="Calibri"/>
              </a:rPr>
              <a:t>1069</a:t>
            </a:r>
          </a:p>
        </p:txBody>
      </p:sp>
      <p:sp>
        <p:nvSpPr>
          <p:cNvPr id="41" name="FL2"/>
          <p:cNvSpPr/>
          <p:nvPr/>
        </p:nvSpPr>
        <p:spPr>
          <a:xfrm>
            <a:off x="365759" y="391363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/>
            <a:r>
              <a:rPr lang="es-ES" sz="780" b="0" i="0" dirty="0">
                <a:solidFill>
                  <a:srgbClr val="CBD5E1"/>
                </a:solidFill>
                <a:latin typeface="Calibri"/>
              </a:rPr>
              <a:t>RENTA_MEDIA_ESTIMADA</a:t>
            </a:r>
          </a:p>
        </p:txBody>
      </p:sp>
      <p:sp>
        <p:nvSpPr>
          <p:cNvPr id="42" name="FT2"/>
          <p:cNvSpPr/>
          <p:nvPr/>
        </p:nvSpPr>
        <p:spPr>
          <a:xfrm>
            <a:off x="2167128" y="3989527"/>
            <a:ext cx="1417320" cy="85953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FB2"/>
          <p:cNvSpPr/>
          <p:nvPr/>
        </p:nvSpPr>
        <p:spPr>
          <a:xfrm>
            <a:off x="2167128" y="3989527"/>
            <a:ext cx="395531" cy="85953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FV2"/>
          <p:cNvSpPr/>
          <p:nvPr/>
        </p:nvSpPr>
        <p:spPr>
          <a:xfrm>
            <a:off x="3621024" y="3913632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/>
            <a:r>
              <a:rPr lang="es-ES" sz="700" b="0" i="0" dirty="0">
                <a:solidFill>
                  <a:srgbClr val="60A5FA"/>
                </a:solidFill>
                <a:latin typeface="Calibri"/>
              </a:rPr>
              <a:t>1054</a:t>
            </a:r>
          </a:p>
        </p:txBody>
      </p:sp>
      <p:sp>
        <p:nvSpPr>
          <p:cNvPr id="45" name="FL3"/>
          <p:cNvSpPr/>
          <p:nvPr/>
        </p:nvSpPr>
        <p:spPr>
          <a:xfrm>
            <a:off x="365759" y="4085539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/>
            <a:r>
              <a:rPr lang="es-ES" sz="780" b="0" i="0" dirty="0">
                <a:solidFill>
                  <a:srgbClr val="CBD5E1"/>
                </a:solidFill>
                <a:latin typeface="Calibri"/>
              </a:rPr>
              <a:t>PVP</a:t>
            </a:r>
          </a:p>
        </p:txBody>
      </p:sp>
      <p:sp>
        <p:nvSpPr>
          <p:cNvPr id="46" name="FT3"/>
          <p:cNvSpPr/>
          <p:nvPr/>
        </p:nvSpPr>
        <p:spPr>
          <a:xfrm>
            <a:off x="2167128" y="4161434"/>
            <a:ext cx="1417320" cy="85953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7" name="FB3"/>
          <p:cNvSpPr/>
          <p:nvPr/>
        </p:nvSpPr>
        <p:spPr>
          <a:xfrm>
            <a:off x="2167128" y="4161434"/>
            <a:ext cx="250503" cy="85953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8" name="FV3"/>
          <p:cNvSpPr/>
          <p:nvPr/>
        </p:nvSpPr>
        <p:spPr>
          <a:xfrm>
            <a:off x="3621024" y="4085539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/>
            <a:r>
              <a:rPr lang="es-ES" sz="700" b="0" i="0" dirty="0">
                <a:solidFill>
                  <a:srgbClr val="A78BFA"/>
                </a:solidFill>
                <a:latin typeface="Calibri"/>
              </a:rPr>
              <a:t>943</a:t>
            </a:r>
          </a:p>
        </p:txBody>
      </p:sp>
      <p:sp>
        <p:nvSpPr>
          <p:cNvPr id="49" name="FL4"/>
          <p:cNvSpPr/>
          <p:nvPr/>
        </p:nvSpPr>
        <p:spPr>
          <a:xfrm>
            <a:off x="365759" y="4257446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/>
            <a:r>
              <a:rPr lang="es-ES" sz="780" b="0" i="0" dirty="0">
                <a:solidFill>
                  <a:srgbClr val="CBD5E1"/>
                </a:solidFill>
                <a:latin typeface="Calibri"/>
              </a:rPr>
              <a:t>ENCUESTA_ZONA_TALLER</a:t>
            </a:r>
          </a:p>
        </p:txBody>
      </p:sp>
      <p:sp>
        <p:nvSpPr>
          <p:cNvPr id="50" name="FT4"/>
          <p:cNvSpPr/>
          <p:nvPr/>
        </p:nvSpPr>
        <p:spPr>
          <a:xfrm>
            <a:off x="2167128" y="4333341"/>
            <a:ext cx="1417320" cy="85953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1" name="FB4"/>
          <p:cNvSpPr/>
          <p:nvPr/>
        </p:nvSpPr>
        <p:spPr>
          <a:xfrm>
            <a:off x="2167128" y="4333341"/>
            <a:ext cx="224134" cy="85953"/>
          </a:xfrm>
          <a:prstGeom prst="rect">
            <a:avLst/>
          </a:prstGeom>
          <a:solidFill>
            <a:srgbClr val="E84A5F"/>
          </a:solidFill>
          <a:ln w="12700">
            <a:solidFill>
              <a:srgbClr val="E84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2" name="FV4"/>
          <p:cNvSpPr/>
          <p:nvPr/>
        </p:nvSpPr>
        <p:spPr>
          <a:xfrm>
            <a:off x="3621024" y="4257446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/>
            <a:r>
              <a:rPr lang="es-ES" sz="700" b="0" i="0" dirty="0">
                <a:solidFill>
                  <a:srgbClr val="E84A5F"/>
                </a:solidFill>
                <a:latin typeface="Calibri"/>
              </a:rPr>
              <a:t>880</a:t>
            </a:r>
          </a:p>
        </p:txBody>
      </p:sp>
      <p:sp>
        <p:nvSpPr>
          <p:cNvPr id="53" name="FL5"/>
          <p:cNvSpPr/>
          <p:nvPr/>
        </p:nvSpPr>
        <p:spPr>
          <a:xfrm>
            <a:off x="4663440" y="3569817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/>
            <a:r>
              <a:rPr lang="es-ES" sz="780" b="0" i="0" dirty="0">
                <a:solidFill>
                  <a:srgbClr val="CBD5E1"/>
                </a:solidFill>
                <a:latin typeface="Calibri"/>
              </a:rPr>
              <a:t>STATUS_SOCIAL</a:t>
            </a:r>
          </a:p>
        </p:txBody>
      </p:sp>
      <p:sp>
        <p:nvSpPr>
          <p:cNvPr id="54" name="FT5"/>
          <p:cNvSpPr/>
          <p:nvPr/>
        </p:nvSpPr>
        <p:spPr>
          <a:xfrm>
            <a:off x="6464807" y="3645712"/>
            <a:ext cx="1417320" cy="85953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5" name="FB5"/>
          <p:cNvSpPr/>
          <p:nvPr/>
        </p:nvSpPr>
        <p:spPr>
          <a:xfrm>
            <a:off x="6464807" y="3645712"/>
            <a:ext cx="184581" cy="85953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6" name="FV5"/>
          <p:cNvSpPr/>
          <p:nvPr/>
        </p:nvSpPr>
        <p:spPr>
          <a:xfrm>
            <a:off x="7918703" y="3569817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/>
            <a:r>
              <a:rPr lang="es-ES" sz="700" b="0" i="0" dirty="0">
                <a:solidFill>
                  <a:srgbClr val="2EC4B6"/>
                </a:solidFill>
                <a:latin typeface="Calibri"/>
              </a:rPr>
              <a:t>502</a:t>
            </a:r>
          </a:p>
        </p:txBody>
      </p:sp>
      <p:sp>
        <p:nvSpPr>
          <p:cNvPr id="57" name="FL6"/>
          <p:cNvSpPr/>
          <p:nvPr/>
        </p:nvSpPr>
        <p:spPr>
          <a:xfrm>
            <a:off x="4663440" y="374172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/>
            <a:r>
              <a:rPr lang="es-ES" sz="780" b="0" i="0" dirty="0">
                <a:solidFill>
                  <a:srgbClr val="CBD5E1"/>
                </a:solidFill>
                <a:latin typeface="Calibri"/>
              </a:rPr>
              <a:t>Kw</a:t>
            </a:r>
          </a:p>
        </p:txBody>
      </p:sp>
      <p:sp>
        <p:nvSpPr>
          <p:cNvPr id="58" name="FT6"/>
          <p:cNvSpPr/>
          <p:nvPr/>
        </p:nvSpPr>
        <p:spPr>
          <a:xfrm>
            <a:off x="6464807" y="3817620"/>
            <a:ext cx="1417320" cy="85953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9" name="FB6"/>
          <p:cNvSpPr/>
          <p:nvPr/>
        </p:nvSpPr>
        <p:spPr>
          <a:xfrm>
            <a:off x="6464807" y="3817620"/>
            <a:ext cx="184581" cy="85953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0" name="FV6"/>
          <p:cNvSpPr/>
          <p:nvPr/>
        </p:nvSpPr>
        <p:spPr>
          <a:xfrm>
            <a:off x="7918703" y="3741724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/>
            <a:r>
              <a:rPr lang="es-ES" sz="700" b="0" i="0" dirty="0">
                <a:solidFill>
                  <a:srgbClr val="F4A261"/>
                </a:solidFill>
                <a:latin typeface="Calibri"/>
              </a:rPr>
              <a:t>416</a:t>
            </a:r>
          </a:p>
        </p:txBody>
      </p:sp>
      <p:sp>
        <p:nvSpPr>
          <p:cNvPr id="61" name="FL7"/>
          <p:cNvSpPr/>
          <p:nvPr/>
        </p:nvSpPr>
        <p:spPr>
          <a:xfrm>
            <a:off x="4663440" y="391363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/>
            <a:r>
              <a:rPr lang="es-ES" sz="780" b="0" i="0" dirty="0">
                <a:solidFill>
                  <a:srgbClr val="CBD5E1"/>
                </a:solidFill>
                <a:latin typeface="Calibri"/>
              </a:rPr>
              <a:t>FORMA_PAGO</a:t>
            </a:r>
          </a:p>
        </p:txBody>
      </p:sp>
      <p:sp>
        <p:nvSpPr>
          <p:cNvPr id="62" name="FT7"/>
          <p:cNvSpPr/>
          <p:nvPr/>
        </p:nvSpPr>
        <p:spPr>
          <a:xfrm>
            <a:off x="6464807" y="3989527"/>
            <a:ext cx="1417320" cy="85953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3" name="FB7"/>
          <p:cNvSpPr/>
          <p:nvPr/>
        </p:nvSpPr>
        <p:spPr>
          <a:xfrm>
            <a:off x="6464807" y="3989527"/>
            <a:ext cx="85698" cy="85953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4" name="FV7"/>
          <p:cNvSpPr/>
          <p:nvPr/>
        </p:nvSpPr>
        <p:spPr>
          <a:xfrm>
            <a:off x="7918703" y="3913632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/>
            <a:r>
              <a:rPr lang="es-ES" sz="700" b="0" i="0" dirty="0">
                <a:solidFill>
                  <a:srgbClr val="60A5FA"/>
                </a:solidFill>
                <a:latin typeface="Calibri"/>
              </a:rPr>
              <a:t>358</a:t>
            </a:r>
          </a:p>
        </p:txBody>
      </p:sp>
      <p:sp>
        <p:nvSpPr>
          <p:cNvPr id="65" name="FL8"/>
          <p:cNvSpPr/>
          <p:nvPr/>
        </p:nvSpPr>
        <p:spPr>
          <a:xfrm>
            <a:off x="4663440" y="4085539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/>
            <a:r>
              <a:rPr lang="es-ES" sz="780" b="0" i="0" dirty="0">
                <a:solidFill>
                  <a:srgbClr val="CBD5E1"/>
                </a:solidFill>
                <a:latin typeface="Calibri"/>
              </a:rPr>
              <a:t>Modelo</a:t>
            </a:r>
          </a:p>
        </p:txBody>
      </p:sp>
      <p:sp>
        <p:nvSpPr>
          <p:cNvPr id="66" name="FT8"/>
          <p:cNvSpPr/>
          <p:nvPr/>
        </p:nvSpPr>
        <p:spPr>
          <a:xfrm>
            <a:off x="6464807" y="4161434"/>
            <a:ext cx="1417320" cy="85953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7" name="FB8"/>
          <p:cNvSpPr/>
          <p:nvPr/>
        </p:nvSpPr>
        <p:spPr>
          <a:xfrm>
            <a:off x="6464807" y="4161434"/>
            <a:ext cx="79106" cy="85953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8" name="FV8"/>
          <p:cNvSpPr/>
          <p:nvPr/>
        </p:nvSpPr>
        <p:spPr>
          <a:xfrm>
            <a:off x="7918703" y="4085539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/>
            <a:r>
              <a:rPr lang="es-ES" sz="700" b="0" i="0" dirty="0">
                <a:solidFill>
                  <a:srgbClr val="A78BFA"/>
                </a:solidFill>
                <a:latin typeface="Calibri"/>
              </a:rPr>
              <a:t>334</a:t>
            </a:r>
          </a:p>
        </p:txBody>
      </p:sp>
      <p:sp>
        <p:nvSpPr>
          <p:cNvPr id="69" name="FL9"/>
          <p:cNvSpPr/>
          <p:nvPr/>
        </p:nvSpPr>
        <p:spPr>
          <a:xfrm>
            <a:off x="4663440" y="4257446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/>
            <a:r>
              <a:rPr lang="es-ES" sz="780" b="0" i="0" dirty="0">
                <a:solidFill>
                  <a:srgbClr val="CBD5E1"/>
                </a:solidFill>
                <a:latin typeface="Calibri"/>
              </a:rPr>
              <a:t>Equipamiento</a:t>
            </a:r>
          </a:p>
        </p:txBody>
      </p:sp>
      <p:sp>
        <p:nvSpPr>
          <p:cNvPr id="70" name="FT9"/>
          <p:cNvSpPr/>
          <p:nvPr/>
        </p:nvSpPr>
        <p:spPr>
          <a:xfrm>
            <a:off x="6464807" y="4333341"/>
            <a:ext cx="1417320" cy="85953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1" name="FB9"/>
          <p:cNvSpPr/>
          <p:nvPr/>
        </p:nvSpPr>
        <p:spPr>
          <a:xfrm>
            <a:off x="6464807" y="4333341"/>
            <a:ext cx="79106" cy="85953"/>
          </a:xfrm>
          <a:prstGeom prst="rect">
            <a:avLst/>
          </a:prstGeom>
          <a:solidFill>
            <a:srgbClr val="E84A5F"/>
          </a:solidFill>
          <a:ln w="12700">
            <a:solidFill>
              <a:srgbClr val="E84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2" name="FV9"/>
          <p:cNvSpPr/>
          <p:nvPr/>
        </p:nvSpPr>
        <p:spPr>
          <a:xfrm>
            <a:off x="7918703" y="4257446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/>
            <a:r>
              <a:rPr lang="es-ES" sz="700" b="0" i="0" dirty="0">
                <a:solidFill>
                  <a:srgbClr val="E84A5F"/>
                </a:solidFill>
                <a:latin typeface="Calibri"/>
              </a:rPr>
              <a:t>308</a:t>
            </a:r>
          </a:p>
        </p:txBody>
      </p:sp>
      <p:sp>
        <p:nvSpPr>
          <p:cNvPr id="73" name="MsgBg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4" name="MsgAcc"/>
          <p:cNvSpPr/>
          <p:nvPr/>
        </p:nvSpPr>
        <p:spPr>
          <a:xfrm>
            <a:off x="0" y="4617720"/>
            <a:ext cx="228600" cy="5257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5" name="MsgTxt"/>
          <p:cNvSpPr/>
          <p:nvPr/>
        </p:nvSpPr>
        <p:spPr>
          <a:xfrm>
            <a:off x="365760" y="4617720"/>
            <a:ext cx="85953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/>
            <a:r>
              <a:rPr lang="es-ES" sz="1150" b="1" i="0" dirty="0">
                <a:solidFill>
                  <a:srgbClr val="FFFFFF"/>
                </a:solidFill>
                <a:latin typeface="Calibri"/>
              </a:rPr>
              <a:t>LightGBM detecta correlaciones de perfil (edad, renta, segmento) con el </a:t>
            </a:r>
            <a:r>
              <a:rPr lang="es-ES" sz="1150" b="1" i="0" dirty="0" err="1">
                <a:solidFill>
                  <a:srgbClr val="FFFFFF"/>
                </a:solidFill>
                <a:latin typeface="Calibri"/>
              </a:rPr>
              <a:t>churn</a:t>
            </a:r>
            <a:r>
              <a:rPr lang="es-ES" sz="1150" b="1" dirty="0">
                <a:solidFill>
                  <a:srgbClr val="FFFFFF"/>
                </a:solidFill>
                <a:latin typeface="Calibri"/>
              </a:rPr>
              <a:t>,</a:t>
            </a:r>
            <a:r>
              <a:rPr lang="es-ES" sz="1150" b="1" i="0" dirty="0">
                <a:solidFill>
                  <a:srgbClr val="FFFFFF"/>
                </a:solidFill>
                <a:latin typeface="Calibri"/>
              </a:rPr>
              <a:t> AUC 0.793, lift 2.16× top 10%. Correlación, no causalidad.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82296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Segmentación de clientes según riesgo y valor económico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422" y="1045325"/>
            <a:ext cx="4906587" cy="317236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06440" y="960120"/>
            <a:ext cx="3017520" cy="713232"/>
          </a:xfrm>
          <a:prstGeom prst="rect">
            <a:avLst/>
          </a:prstGeom>
          <a:solidFill>
            <a:srgbClr val="0F1F3D"/>
          </a:solidFill>
          <a:ln w="12700">
            <a:solidFill>
              <a:srgbClr val="2E4A72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5806440" y="98755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10,046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806440" y="135331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analizados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806440" y="1527048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nuevos clientes predicción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806440" y="1737360"/>
            <a:ext cx="3017520" cy="713232"/>
          </a:xfrm>
          <a:prstGeom prst="rect">
            <a:avLst/>
          </a:prstGeom>
          <a:solidFill>
            <a:srgbClr val="0F1F3D"/>
          </a:solidFill>
          <a:ln w="12700">
            <a:solidFill>
              <a:srgbClr val="2E4A72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5806440" y="17647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€249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5806440" y="213055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CLTV medio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806440" y="2304288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Lifetime Value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806440" y="2514600"/>
            <a:ext cx="3017520" cy="713232"/>
          </a:xfrm>
          <a:prstGeom prst="rect">
            <a:avLst/>
          </a:prstGeom>
          <a:solidFill>
            <a:srgbClr val="0F1F3D"/>
          </a:solidFill>
          <a:ln w="12700">
            <a:solidFill>
              <a:srgbClr val="2E4A72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/>
          <p:nvPr/>
        </p:nvSpPr>
        <p:spPr>
          <a:xfrm>
            <a:off x="5806440" y="25420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€189K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5806440" y="290779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en riesgo (EVR)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806440" y="3081528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</a:t>
            </a: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futuro</a:t>
            </a: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amenazado</a:t>
            </a: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EVR = P(churn) × CLTV (sin incluir churn)</a:t>
            </a:r>
            <a:endParaRPr lang="en-US" sz="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06440" y="3337560"/>
          <a:ext cx="3017520" cy="987552"/>
        </p:xfrm>
        <a:graphic>
          <a:graphicData uri="http://schemas.openxmlformats.org/drawingml/2006/table">
            <a:tbl>
              <a:tblPr/>
              <a:tblGrid>
                <a:gridCol w="754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EVR 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84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Alto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€69,281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84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🟠 Medio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€94,307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🔵 Bajo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4,713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€25,567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Shape 15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6"/>
          <p:cNvSpPr/>
          <p:nvPr/>
        </p:nvSpPr>
        <p:spPr>
          <a:xfrm>
            <a:off x="0" y="4617720"/>
            <a:ext cx="228600" cy="52578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7"/>
          <p:cNvSpPr/>
          <p:nvPr/>
        </p:nvSpPr>
        <p:spPr>
          <a:xfrm>
            <a:off x="365760" y="4617720"/>
            <a:ext cx="85953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valor en riesgo total es €189K, concentrado en segmentos Alto (€69K) y Medio (€94K), que representan el 87% del EVR.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8229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comercial basada en datos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Segmentación Riesgo × Valor del Cliente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806440" y="960120"/>
            <a:ext cx="30175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Shape 5"/>
          <p:cNvSpPr/>
          <p:nvPr/>
        </p:nvSpPr>
        <p:spPr>
          <a:xfrm>
            <a:off x="5806440" y="960120"/>
            <a:ext cx="201168" cy="758952"/>
          </a:xfrm>
          <a:prstGeom prst="rect">
            <a:avLst/>
          </a:prstGeom>
          <a:solidFill>
            <a:srgbClr val="E84A5F"/>
          </a:solidFill>
          <a:ln w="12700">
            <a:solidFill>
              <a:srgbClr val="E84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6080760" y="996696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RETENCIÓN AGRESIVA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080760" y="1243584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576 clientes  ·  Alto riesgo + alto valor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080760" y="1453896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8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Email/SMS + descuento servicio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806440" y="1783080"/>
            <a:ext cx="30175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5806440" y="1783080"/>
            <a:ext cx="201168" cy="75895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6080760" y="1819656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FIDELIZACIÓN LIGERA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080760" y="2066544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2,565 clientes  ·  Bajo riesgo + alto valor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080760" y="2276856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Newsletter + oferta estacional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806440" y="2606040"/>
            <a:ext cx="30175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5"/>
          <p:cNvSpPr/>
          <p:nvPr/>
        </p:nvSpPr>
        <p:spPr>
          <a:xfrm>
            <a:off x="5806440" y="2606040"/>
            <a:ext cx="201168" cy="7589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6"/>
          <p:cNvSpPr/>
          <p:nvPr/>
        </p:nvSpPr>
        <p:spPr>
          <a:xfrm>
            <a:off x="6080760" y="2642616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RENTABILIDAD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080760" y="2889504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1,341 clientes  ·  Alto riesgo + bajo valor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080760" y="3099816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informativo, analizar margen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806440" y="3429000"/>
            <a:ext cx="30175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Shape 20"/>
          <p:cNvSpPr/>
          <p:nvPr/>
        </p:nvSpPr>
        <p:spPr>
          <a:xfrm>
            <a:off x="5806440" y="3429000"/>
            <a:ext cx="201168" cy="7589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1"/>
          <p:cNvSpPr/>
          <p:nvPr/>
        </p:nvSpPr>
        <p:spPr>
          <a:xfrm>
            <a:off x="6080760" y="3465576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ACCIÓN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080760" y="3712464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1,564 clientes  ·  </a:t>
            </a:r>
            <a:r>
              <a:rPr lang="en-US" sz="9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</a:t>
            </a:r>
            <a:r>
              <a:rPr lang="en-US" sz="9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negativo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080760" y="3922776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CLTV menor que coste intervención → ROI negativo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806440" y="4279392"/>
            <a:ext cx="301752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5"/>
          <p:cNvSpPr/>
          <p:nvPr/>
        </p:nvSpPr>
        <p:spPr>
          <a:xfrm>
            <a:off x="5852160" y="42793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 marketing: €3.20/cliente  ·  Margen visita: €90.55  ·  Ratio: 28× (clientes alto valor)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Shape 27"/>
          <p:cNvSpPr/>
          <p:nvPr/>
        </p:nvSpPr>
        <p:spPr>
          <a:xfrm>
            <a:off x="0" y="4617720"/>
            <a:ext cx="228600" cy="52578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8"/>
          <p:cNvSpPr/>
          <p:nvPr/>
        </p:nvSpPr>
        <p:spPr>
          <a:xfrm>
            <a:off x="365760" y="4617720"/>
            <a:ext cx="85953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200" b="1" dirty="0">
                <a:solidFill>
                  <a:schemeClr val="bg1"/>
                </a:solidFill>
              </a:rPr>
              <a:t>El modelo identifica el punto óptimo de intervención y prioriza los clientes donde la campaña genera mayor beneficio.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32" name="Shape 6">
            <a:extLst>
              <a:ext uri="{FF2B5EF4-FFF2-40B4-BE49-F238E27FC236}">
                <a16:creationId xmlns:a16="http://schemas.microsoft.com/office/drawing/2014/main" id="{A6CD2110-8973-37EC-D2D4-0699CA0826CB}"/>
              </a:ext>
            </a:extLst>
          </p:cNvPr>
          <p:cNvSpPr/>
          <p:nvPr/>
        </p:nvSpPr>
        <p:spPr>
          <a:xfrm>
            <a:off x="328042" y="3703320"/>
            <a:ext cx="1084217" cy="758952"/>
          </a:xfrm>
          <a:prstGeom prst="rect">
            <a:avLst/>
          </a:prstGeom>
          <a:solidFill>
            <a:srgbClr val="0F1F3D"/>
          </a:solidFill>
          <a:ln w="12700">
            <a:solidFill>
              <a:srgbClr val="2E4A72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5" name="Shape 6">
            <a:extLst>
              <a:ext uri="{FF2B5EF4-FFF2-40B4-BE49-F238E27FC236}">
                <a16:creationId xmlns:a16="http://schemas.microsoft.com/office/drawing/2014/main" id="{0C6E3C96-15A1-A807-3D43-ED03C1E20610}"/>
              </a:ext>
            </a:extLst>
          </p:cNvPr>
          <p:cNvSpPr/>
          <p:nvPr/>
        </p:nvSpPr>
        <p:spPr>
          <a:xfrm>
            <a:off x="2036582" y="3687789"/>
            <a:ext cx="1709356" cy="758952"/>
          </a:xfrm>
          <a:prstGeom prst="rect">
            <a:avLst/>
          </a:prstGeom>
          <a:solidFill>
            <a:srgbClr val="0F1F3D"/>
          </a:solidFill>
          <a:ln w="12700">
            <a:solidFill>
              <a:srgbClr val="2E4A72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7" name="Shape 6">
            <a:extLst>
              <a:ext uri="{FF2B5EF4-FFF2-40B4-BE49-F238E27FC236}">
                <a16:creationId xmlns:a16="http://schemas.microsoft.com/office/drawing/2014/main" id="{7BE25CED-9A53-A337-FAB6-5A086A14F404}"/>
              </a:ext>
            </a:extLst>
          </p:cNvPr>
          <p:cNvSpPr/>
          <p:nvPr/>
        </p:nvSpPr>
        <p:spPr>
          <a:xfrm>
            <a:off x="4398265" y="3688951"/>
            <a:ext cx="1084217" cy="758952"/>
          </a:xfrm>
          <a:prstGeom prst="rect">
            <a:avLst/>
          </a:prstGeom>
          <a:solidFill>
            <a:srgbClr val="0F1F3D"/>
          </a:solidFill>
          <a:ln w="12700">
            <a:solidFill>
              <a:srgbClr val="2E4A72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8" name="Text 7">
            <a:extLst>
              <a:ext uri="{FF2B5EF4-FFF2-40B4-BE49-F238E27FC236}">
                <a16:creationId xmlns:a16="http://schemas.microsoft.com/office/drawing/2014/main" id="{B95D6B60-5CFD-3E3A-8A43-1F7A4E2B7D43}"/>
              </a:ext>
            </a:extLst>
          </p:cNvPr>
          <p:cNvSpPr/>
          <p:nvPr/>
        </p:nvSpPr>
        <p:spPr>
          <a:xfrm>
            <a:off x="-638610" y="3712464"/>
            <a:ext cx="301752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0.028</a:t>
            </a:r>
            <a:endParaRPr lang="en-US" sz="2200" dirty="0"/>
          </a:p>
        </p:txBody>
      </p:sp>
      <p:sp>
        <p:nvSpPr>
          <p:cNvPr id="40" name="Text 11">
            <a:extLst>
              <a:ext uri="{FF2B5EF4-FFF2-40B4-BE49-F238E27FC236}">
                <a16:creationId xmlns:a16="http://schemas.microsoft.com/office/drawing/2014/main" id="{5778CACA-D534-C32D-D483-3E9C3758A9A0}"/>
              </a:ext>
            </a:extLst>
          </p:cNvPr>
          <p:cNvSpPr/>
          <p:nvPr/>
        </p:nvSpPr>
        <p:spPr>
          <a:xfrm>
            <a:off x="1395656" y="3693124"/>
            <a:ext cx="301752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€162,770</a:t>
            </a:r>
            <a:endParaRPr lang="en-US" sz="2200" dirty="0"/>
          </a:p>
        </p:txBody>
      </p:sp>
      <p:sp>
        <p:nvSpPr>
          <p:cNvPr id="42" name="Text 19">
            <a:extLst>
              <a:ext uri="{FF2B5EF4-FFF2-40B4-BE49-F238E27FC236}">
                <a16:creationId xmlns:a16="http://schemas.microsoft.com/office/drawing/2014/main" id="{DD58E922-D191-CBD5-7108-93DC4AB3181F}"/>
              </a:ext>
            </a:extLst>
          </p:cNvPr>
          <p:cNvSpPr/>
          <p:nvPr/>
        </p:nvSpPr>
        <p:spPr>
          <a:xfrm>
            <a:off x="3431613" y="3688298"/>
            <a:ext cx="301752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6.9×</a:t>
            </a:r>
            <a:endParaRPr lang="en-US" sz="2200" dirty="0"/>
          </a:p>
        </p:txBody>
      </p:sp>
      <p:sp>
        <p:nvSpPr>
          <p:cNvPr id="43" name="Text 8">
            <a:extLst>
              <a:ext uri="{FF2B5EF4-FFF2-40B4-BE49-F238E27FC236}">
                <a16:creationId xmlns:a16="http://schemas.microsoft.com/office/drawing/2014/main" id="{D39F936E-3886-6E66-1E95-25B45CE62380}"/>
              </a:ext>
            </a:extLst>
          </p:cNvPr>
          <p:cNvSpPr/>
          <p:nvPr/>
        </p:nvSpPr>
        <p:spPr>
          <a:xfrm>
            <a:off x="-632159" y="4027135"/>
            <a:ext cx="3017520" cy="2099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óptimo</a:t>
            </a:r>
            <a:endParaRPr lang="en-US" sz="800" dirty="0"/>
          </a:p>
        </p:txBody>
      </p:sp>
      <p:sp>
        <p:nvSpPr>
          <p:cNvPr id="44" name="Text 12">
            <a:extLst>
              <a:ext uri="{FF2B5EF4-FFF2-40B4-BE49-F238E27FC236}">
                <a16:creationId xmlns:a16="http://schemas.microsoft.com/office/drawing/2014/main" id="{471A1C1D-E96E-7652-4D49-183B943CFFE9}"/>
              </a:ext>
            </a:extLst>
          </p:cNvPr>
          <p:cNvSpPr/>
          <p:nvPr/>
        </p:nvSpPr>
        <p:spPr>
          <a:xfrm>
            <a:off x="1421892" y="4015702"/>
            <a:ext cx="3017520" cy="2099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 esperado</a:t>
            </a:r>
            <a:endParaRPr lang="en-US" sz="800" dirty="0"/>
          </a:p>
        </p:txBody>
      </p:sp>
      <p:sp>
        <p:nvSpPr>
          <p:cNvPr id="46" name="Text 20">
            <a:extLst>
              <a:ext uri="{FF2B5EF4-FFF2-40B4-BE49-F238E27FC236}">
                <a16:creationId xmlns:a16="http://schemas.microsoft.com/office/drawing/2014/main" id="{3E538089-7251-0D20-D218-BEA16A56142E}"/>
              </a:ext>
            </a:extLst>
          </p:cNvPr>
          <p:cNvSpPr/>
          <p:nvPr/>
        </p:nvSpPr>
        <p:spPr>
          <a:xfrm>
            <a:off x="3432920" y="3992114"/>
            <a:ext cx="3017520" cy="2099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medio campañas</a:t>
            </a:r>
            <a:endParaRPr lang="en-US" sz="800" dirty="0"/>
          </a:p>
        </p:txBody>
      </p:sp>
      <p:sp>
        <p:nvSpPr>
          <p:cNvPr id="47" name="Text 9">
            <a:extLst>
              <a:ext uri="{FF2B5EF4-FFF2-40B4-BE49-F238E27FC236}">
                <a16:creationId xmlns:a16="http://schemas.microsoft.com/office/drawing/2014/main" id="{926082F2-A97E-40CA-7680-F34034FBB9C4}"/>
              </a:ext>
            </a:extLst>
          </p:cNvPr>
          <p:cNvSpPr/>
          <p:nvPr/>
        </p:nvSpPr>
        <p:spPr>
          <a:xfrm>
            <a:off x="-609299" y="4229253"/>
            <a:ext cx="3017520" cy="149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 beneficio neto</a:t>
            </a:r>
            <a:endParaRPr lang="en-US" sz="650" dirty="0"/>
          </a:p>
        </p:txBody>
      </p:sp>
      <p:sp>
        <p:nvSpPr>
          <p:cNvPr id="48" name="Text 13">
            <a:extLst>
              <a:ext uri="{FF2B5EF4-FFF2-40B4-BE49-F238E27FC236}">
                <a16:creationId xmlns:a16="http://schemas.microsoft.com/office/drawing/2014/main" id="{60129436-464D-CECE-CA1B-D45490482862}"/>
              </a:ext>
            </a:extLst>
          </p:cNvPr>
          <p:cNvSpPr/>
          <p:nvPr/>
        </p:nvSpPr>
        <p:spPr>
          <a:xfrm>
            <a:off x="1395656" y="4214675"/>
            <a:ext cx="3017520" cy="149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maximiza </a:t>
            </a:r>
            <a:r>
              <a:rPr lang="en-US" sz="6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</a:t>
            </a:r>
            <a:r>
              <a:rPr lang="en-US" sz="6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6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esperado</a:t>
            </a:r>
            <a:r>
              <a:rPr lang="en-US" sz="6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validación</a:t>
            </a:r>
            <a:endParaRPr lang="en-US" sz="650" dirty="0"/>
          </a:p>
        </p:txBody>
      </p:sp>
      <p:sp>
        <p:nvSpPr>
          <p:cNvPr id="52" name="Text 21">
            <a:extLst>
              <a:ext uri="{FF2B5EF4-FFF2-40B4-BE49-F238E27FC236}">
                <a16:creationId xmlns:a16="http://schemas.microsoft.com/office/drawing/2014/main" id="{58838F56-6688-BFA3-982E-08C72E75B472}"/>
              </a:ext>
            </a:extLst>
          </p:cNvPr>
          <p:cNvSpPr/>
          <p:nvPr/>
        </p:nvSpPr>
        <p:spPr>
          <a:xfrm>
            <a:off x="3432920" y="4183028"/>
            <a:ext cx="3017520" cy="149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10,046 clientes nuevos</a:t>
            </a:r>
            <a:endParaRPr lang="en-US" sz="650" dirty="0"/>
          </a:p>
        </p:txBody>
      </p:sp>
      <p:pic>
        <p:nvPicPr>
          <p:cNvPr id="49" name="Imagen 48">
            <a:extLst>
              <a:ext uri="{FF2B5EF4-FFF2-40B4-BE49-F238E27FC236}">
                <a16:creationId xmlns:a16="http://schemas.microsoft.com/office/drawing/2014/main" id="{8ACE1159-7CE4-8A66-E1E8-280183CC1E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035" y="1261933"/>
            <a:ext cx="2954953" cy="2182738"/>
          </a:xfrm>
          <a:prstGeom prst="rect">
            <a:avLst/>
          </a:prstGeom>
        </p:spPr>
      </p:pic>
      <p:pic>
        <p:nvPicPr>
          <p:cNvPr id="53" name="Imagen 52">
            <a:extLst>
              <a:ext uri="{FF2B5EF4-FFF2-40B4-BE49-F238E27FC236}">
                <a16:creationId xmlns:a16="http://schemas.microsoft.com/office/drawing/2014/main" id="{09280C2D-D7F3-E26B-F743-E7244A864F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1" y="1252728"/>
            <a:ext cx="2270306" cy="21827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82296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de decisión para campañas comerciales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end-to-end: de datos de clientes a plan de acción exportable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932688"/>
            <a:ext cx="4206240" cy="3063239"/>
          </a:xfrm>
          <a:prstGeom prst="rect">
            <a:avLst/>
          </a:prstGeom>
          <a:solidFill>
            <a:srgbClr val="162847"/>
          </a:solidFill>
          <a:ln w="12700">
            <a:solidFill>
              <a:srgbClr val="1E3A6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02920" y="10241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ACCIONES (10,046 clientes)</a:t>
            </a:r>
            <a:endParaRPr lang="en-US" sz="1000" dirty="0"/>
          </a:p>
        </p:txBody>
      </p:sp>
      <p:sp>
        <p:nvSpPr>
          <p:cNvPr id="100" name="sq_0"/>
          <p:cNvSpPr/>
          <p:nvPr/>
        </p:nvSpPr>
        <p:spPr>
          <a:xfrm>
            <a:off x="502920" y="1344168"/>
            <a:ext cx="182880" cy="24688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1" name="lbl_0"/>
          <p:cNvSpPr/>
          <p:nvPr/>
        </p:nvSpPr>
        <p:spPr>
          <a:xfrm>
            <a:off x="758952" y="1344168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/>
            <a:r>
              <a:rPr lang="es-ES" sz="1000" b="0" i="0" dirty="0">
                <a:solidFill>
                  <a:srgbClr val="FFFFFF"/>
                </a:solidFill>
                <a:latin typeface="Calibri"/>
              </a:rPr>
              <a:t>Email personalizado + Desc. bajo riesgo</a:t>
            </a:r>
          </a:p>
        </p:txBody>
      </p:sp>
      <p:sp>
        <p:nvSpPr>
          <p:cNvPr id="102" name="val_0"/>
          <p:cNvSpPr/>
          <p:nvPr/>
        </p:nvSpPr>
        <p:spPr>
          <a:xfrm>
            <a:off x="3383280" y="1344168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/>
            <a:r>
              <a:rPr lang="es-ES" sz="1000" b="1" i="0" dirty="0">
                <a:solidFill>
                  <a:srgbClr val="2EC4B6"/>
                </a:solidFill>
                <a:latin typeface="Calibri"/>
              </a:rPr>
              <a:t>8.3%  (838)</a:t>
            </a:r>
          </a:p>
        </p:txBody>
      </p:sp>
      <p:sp>
        <p:nvSpPr>
          <p:cNvPr id="103" name="sq_1"/>
          <p:cNvSpPr/>
          <p:nvPr/>
        </p:nvSpPr>
        <p:spPr>
          <a:xfrm>
            <a:off x="502920" y="1613916"/>
            <a:ext cx="182880" cy="2468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4" name="lbl_1"/>
          <p:cNvSpPr/>
          <p:nvPr/>
        </p:nvSpPr>
        <p:spPr>
          <a:xfrm>
            <a:off x="758952" y="1613916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/>
            <a:r>
              <a:rPr lang="es-ES" sz="1000" b="0" i="0" dirty="0">
                <a:solidFill>
                  <a:srgbClr val="FFFFFF"/>
                </a:solidFill>
                <a:latin typeface="Calibri"/>
              </a:rPr>
              <a:t>Email/SMS + Descuento servicio</a:t>
            </a:r>
          </a:p>
        </p:txBody>
      </p:sp>
      <p:sp>
        <p:nvSpPr>
          <p:cNvPr id="105" name="val_1"/>
          <p:cNvSpPr/>
          <p:nvPr/>
        </p:nvSpPr>
        <p:spPr>
          <a:xfrm>
            <a:off x="3383280" y="1613916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/>
            <a:r>
              <a:rPr lang="es-ES" sz="1000" b="1" i="0" dirty="0">
                <a:solidFill>
                  <a:srgbClr val="60A5FA"/>
                </a:solidFill>
                <a:latin typeface="Calibri"/>
              </a:rPr>
              <a:t>1.8%  (183)</a:t>
            </a:r>
          </a:p>
        </p:txBody>
      </p:sp>
      <p:sp>
        <p:nvSpPr>
          <p:cNvPr id="106" name="sq_2"/>
          <p:cNvSpPr/>
          <p:nvPr/>
        </p:nvSpPr>
        <p:spPr>
          <a:xfrm>
            <a:off x="502920" y="1883664"/>
            <a:ext cx="182880" cy="2468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7" name="lbl_2"/>
          <p:cNvSpPr/>
          <p:nvPr/>
        </p:nvSpPr>
        <p:spPr>
          <a:xfrm>
            <a:off x="758952" y="1883664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/>
            <a:r>
              <a:rPr lang="es-ES" sz="1000" b="0" i="0" dirty="0">
                <a:solidFill>
                  <a:srgbClr val="FFFFFF"/>
                </a:solidFill>
                <a:latin typeface="Calibri"/>
              </a:rPr>
              <a:t>Email/SMS informativo</a:t>
            </a:r>
          </a:p>
        </p:txBody>
      </p:sp>
      <p:sp>
        <p:nvSpPr>
          <p:cNvPr id="108" name="val_2"/>
          <p:cNvSpPr/>
          <p:nvPr/>
        </p:nvSpPr>
        <p:spPr>
          <a:xfrm>
            <a:off x="3383280" y="1883664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/>
            <a:r>
              <a:rPr lang="es-ES" sz="1000" b="1" i="0" dirty="0">
                <a:solidFill>
                  <a:srgbClr val="60A5FA"/>
                </a:solidFill>
                <a:latin typeface="Calibri"/>
              </a:rPr>
              <a:t>17.3%  (1,734)</a:t>
            </a:r>
          </a:p>
        </p:txBody>
      </p:sp>
      <p:sp>
        <p:nvSpPr>
          <p:cNvPr id="109" name="sq_3"/>
          <p:cNvSpPr/>
          <p:nvPr/>
        </p:nvSpPr>
        <p:spPr>
          <a:xfrm>
            <a:off x="502920" y="2153412"/>
            <a:ext cx="182880" cy="24688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0" name="lbl_3"/>
          <p:cNvSpPr/>
          <p:nvPr/>
        </p:nvSpPr>
        <p:spPr>
          <a:xfrm>
            <a:off x="758952" y="2153412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/>
            <a:r>
              <a:rPr lang="es-ES" sz="1000" b="0" i="0" dirty="0">
                <a:solidFill>
                  <a:srgbClr val="FFFFFF"/>
                </a:solidFill>
                <a:latin typeface="Calibri"/>
              </a:rPr>
              <a:t>Newsletter</a:t>
            </a:r>
          </a:p>
        </p:txBody>
      </p:sp>
      <p:sp>
        <p:nvSpPr>
          <p:cNvPr id="111" name="val_3"/>
          <p:cNvSpPr/>
          <p:nvPr/>
        </p:nvSpPr>
        <p:spPr>
          <a:xfrm>
            <a:off x="3383280" y="2153412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/>
            <a:r>
              <a:rPr lang="es-ES" sz="1000" b="1" i="0" dirty="0">
                <a:solidFill>
                  <a:srgbClr val="F4A261"/>
                </a:solidFill>
                <a:latin typeface="Calibri"/>
              </a:rPr>
              <a:t>3.1%  (309)</a:t>
            </a:r>
          </a:p>
        </p:txBody>
      </p:sp>
      <p:sp>
        <p:nvSpPr>
          <p:cNvPr id="112" name="sq_4"/>
          <p:cNvSpPr/>
          <p:nvPr/>
        </p:nvSpPr>
        <p:spPr>
          <a:xfrm>
            <a:off x="502920" y="2423160"/>
            <a:ext cx="182880" cy="24688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3" name="lbl_4"/>
          <p:cNvSpPr/>
          <p:nvPr/>
        </p:nvSpPr>
        <p:spPr>
          <a:xfrm>
            <a:off x="758952" y="2423160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/>
            <a:r>
              <a:rPr lang="es-ES" sz="1000" b="0" i="0" dirty="0">
                <a:solidFill>
                  <a:srgbClr val="FFFFFF"/>
                </a:solidFill>
                <a:latin typeface="Calibri"/>
              </a:rPr>
              <a:t>Newsletter + Oferta estacional</a:t>
            </a:r>
          </a:p>
        </p:txBody>
      </p:sp>
      <p:sp>
        <p:nvSpPr>
          <p:cNvPr id="114" name="val_4"/>
          <p:cNvSpPr/>
          <p:nvPr/>
        </p:nvSpPr>
        <p:spPr>
          <a:xfrm>
            <a:off x="3383280" y="2423160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/>
            <a:r>
              <a:rPr lang="es-ES" sz="1000" b="1" i="0" dirty="0">
                <a:solidFill>
                  <a:srgbClr val="A78BFA"/>
                </a:solidFill>
                <a:latin typeface="Calibri"/>
              </a:rPr>
              <a:t>22.6%  (2,269)</a:t>
            </a:r>
          </a:p>
        </p:txBody>
      </p:sp>
      <p:sp>
        <p:nvSpPr>
          <p:cNvPr id="115" name="sq_5"/>
          <p:cNvSpPr/>
          <p:nvPr/>
        </p:nvSpPr>
        <p:spPr>
          <a:xfrm>
            <a:off x="502920" y="2692908"/>
            <a:ext cx="182880" cy="24688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6" name="lbl_5"/>
          <p:cNvSpPr/>
          <p:nvPr/>
        </p:nvSpPr>
        <p:spPr>
          <a:xfrm>
            <a:off x="758952" y="2692908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/>
            <a:r>
              <a:rPr lang="es-ES" sz="1000" b="0" i="0" dirty="0">
                <a:solidFill>
                  <a:srgbClr val="FFFFFF"/>
                </a:solidFill>
                <a:latin typeface="Calibri"/>
              </a:rPr>
              <a:t>Newsletter de fidelización</a:t>
            </a:r>
          </a:p>
        </p:txBody>
      </p:sp>
      <p:sp>
        <p:nvSpPr>
          <p:cNvPr id="117" name="val_5"/>
          <p:cNvSpPr/>
          <p:nvPr/>
        </p:nvSpPr>
        <p:spPr>
          <a:xfrm>
            <a:off x="3383280" y="2692908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/>
            <a:r>
              <a:rPr lang="es-ES" sz="1000" b="1" i="0" dirty="0">
                <a:solidFill>
                  <a:srgbClr val="2EC4B6"/>
                </a:solidFill>
                <a:latin typeface="Calibri"/>
              </a:rPr>
              <a:t>41.7%  (4,185)</a:t>
            </a:r>
          </a:p>
        </p:txBody>
      </p:sp>
      <p:sp>
        <p:nvSpPr>
          <p:cNvPr id="118" name="sq_6"/>
          <p:cNvSpPr/>
          <p:nvPr/>
        </p:nvSpPr>
        <p:spPr>
          <a:xfrm>
            <a:off x="502920" y="2962656"/>
            <a:ext cx="182880" cy="24688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9" name="lbl_6"/>
          <p:cNvSpPr/>
          <p:nvPr/>
        </p:nvSpPr>
        <p:spPr>
          <a:xfrm>
            <a:off x="758952" y="2962656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/>
            <a:r>
              <a:rPr lang="es-ES" sz="1000" b="0" i="0" dirty="0">
                <a:solidFill>
                  <a:srgbClr val="FFFFFF"/>
                </a:solidFill>
                <a:latin typeface="Calibri"/>
              </a:rPr>
              <a:t>Sin acción</a:t>
            </a:r>
          </a:p>
        </p:txBody>
      </p:sp>
      <p:sp>
        <p:nvSpPr>
          <p:cNvPr id="120" name="val_6"/>
          <p:cNvSpPr/>
          <p:nvPr/>
        </p:nvSpPr>
        <p:spPr>
          <a:xfrm>
            <a:off x="3383280" y="2962656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/>
            <a:r>
              <a:rPr lang="es-ES" sz="1000" b="1" i="0" dirty="0">
                <a:solidFill>
                  <a:srgbClr val="64748B"/>
                </a:solidFill>
                <a:latin typeface="Calibri"/>
              </a:rPr>
              <a:t>5.3%  (528)</a:t>
            </a:r>
          </a:p>
        </p:txBody>
      </p:sp>
      <p:sp>
        <p:nvSpPr>
          <p:cNvPr id="130" name="dashbox"/>
          <p:cNvSpPr/>
          <p:nvPr/>
        </p:nvSpPr>
        <p:spPr>
          <a:xfrm>
            <a:off x="502920" y="3278124"/>
            <a:ext cx="3931920" cy="731520"/>
          </a:xfrm>
          <a:prstGeom prst="rect">
            <a:avLst/>
          </a:prstGeom>
          <a:solidFill>
            <a:srgbClr val="0D2240"/>
          </a:solidFill>
          <a:ln w="6350">
            <a:solidFill>
              <a:srgbClr val="2EC4B6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131" name="dashhdr"/>
          <p:cNvSpPr/>
          <p:nvPr/>
        </p:nvSpPr>
        <p:spPr>
          <a:xfrm>
            <a:off x="594360" y="3342132"/>
            <a:ext cx="37490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/>
            <a:r>
              <a:rPr lang="es-ES" sz="900" b="1" dirty="0">
                <a:solidFill>
                  <a:srgbClr val="2EC4B6"/>
                </a:solidFill>
                <a:latin typeface="Calibri"/>
              </a:rPr>
              <a:t>FLUJO DASHBOARD (Streamlit)</a:t>
            </a:r>
          </a:p>
        </p:txBody>
      </p:sp>
      <p:sp>
        <p:nvSpPr>
          <p:cNvPr id="132" name="dashflow"/>
          <p:cNvSpPr/>
          <p:nvPr/>
        </p:nvSpPr>
        <p:spPr>
          <a:xfrm>
            <a:off x="594360" y="3570732"/>
            <a:ext cx="37490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/>
            <a:r>
              <a:rPr lang="es-ES" sz="850" b="0" dirty="0">
                <a:solidFill>
                  <a:srgbClr val="FFFFFF"/>
                </a:solidFill>
                <a:latin typeface="Calibri"/>
              </a:rPr>
              <a:t>Cargar cartera mensual  → </a:t>
            </a:r>
            <a:r>
              <a:rPr lang="es-ES" sz="850" b="0" dirty="0">
                <a:solidFill>
                  <a:srgbClr val="2EC4B6"/>
                </a:solidFill>
                <a:latin typeface="Calibri"/>
              </a:rPr>
              <a:t>Predecir </a:t>
            </a:r>
            <a:r>
              <a:rPr lang="es-ES" sz="850" b="0" dirty="0">
                <a:solidFill>
                  <a:srgbClr val="FFFFFF"/>
                </a:solidFill>
                <a:latin typeface="Calibri"/>
              </a:rPr>
              <a:t>churn + CLTV  → </a:t>
            </a:r>
            <a:r>
              <a:rPr lang="es-ES" sz="850" b="0" dirty="0">
                <a:solidFill>
                  <a:srgbClr val="2EC4B6"/>
                </a:solidFill>
                <a:latin typeface="Calibri"/>
              </a:rPr>
              <a:t>Simular · Exportar </a:t>
            </a:r>
            <a:r>
              <a:rPr lang="es-ES" sz="850" b="0" dirty="0">
                <a:solidFill>
                  <a:srgbClr val="FFFFFF"/>
                </a:solidFill>
                <a:latin typeface="Calibri"/>
              </a:rPr>
              <a:t>plan de acción + Simulador </a:t>
            </a:r>
          </a:p>
        </p:txBody>
      </p:sp>
      <p:sp>
        <p:nvSpPr>
          <p:cNvPr id="29" name="Shape 27"/>
          <p:cNvSpPr/>
          <p:nvPr/>
        </p:nvSpPr>
        <p:spPr>
          <a:xfrm>
            <a:off x="4754880" y="932688"/>
            <a:ext cx="4114800" cy="3520440"/>
          </a:xfrm>
          <a:prstGeom prst="rect">
            <a:avLst/>
          </a:prstGeom>
          <a:solidFill>
            <a:srgbClr val="162847"/>
          </a:solidFill>
          <a:ln w="12700">
            <a:solidFill>
              <a:srgbClr val="1E3A6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4892040" y="10241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8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ECONÓMICO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92040" y="1344168"/>
            <a:ext cx="3840480" cy="640080"/>
          </a:xfrm>
          <a:prstGeom prst="rect">
            <a:avLst/>
          </a:prstGeom>
          <a:solidFill>
            <a:srgbClr val="0D2240"/>
          </a:solidFill>
          <a:ln w="12700">
            <a:solidFill>
              <a:srgbClr val="2E4A7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4892040" y="1399032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€189,155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4892040" y="170078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EVR total analizado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92040" y="1865376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futuro en riesgo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892040" y="2075688"/>
            <a:ext cx="3840480" cy="640080"/>
          </a:xfrm>
          <a:prstGeom prst="rect">
            <a:avLst/>
          </a:prstGeom>
          <a:solidFill>
            <a:srgbClr val="0D2240"/>
          </a:solidFill>
          <a:ln w="12700">
            <a:solidFill>
              <a:srgbClr val="2E4A7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4892040" y="2103120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22.4×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4892040" y="240487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beneficio / coste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92040" y="2569464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 marketing → €22 promedio (€28 en segmento alto)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892040" y="2779776"/>
            <a:ext cx="3840480" cy="640080"/>
          </a:xfrm>
          <a:prstGeom prst="rect">
            <a:avLst/>
          </a:prstGeom>
          <a:solidFill>
            <a:srgbClr val="0D2240"/>
          </a:solidFill>
          <a:ln w="12700">
            <a:solidFill>
              <a:srgbClr val="2E4A7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4892040" y="2807208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€90.55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4892040" y="309067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por visita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892040" y="327355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 neto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892040" y="3483864"/>
            <a:ext cx="3840480" cy="640080"/>
          </a:xfrm>
          <a:prstGeom prst="rect">
            <a:avLst/>
          </a:prstGeom>
          <a:solidFill>
            <a:srgbClr val="0D2240"/>
          </a:solidFill>
          <a:ln w="12700">
            <a:solidFill>
              <a:srgbClr val="2E4A7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Text 42"/>
          <p:cNvSpPr/>
          <p:nvPr/>
        </p:nvSpPr>
        <p:spPr>
          <a:xfrm>
            <a:off x="4892040" y="3511296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€3.20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4892040" y="38130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 por cliente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892040" y="3977640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 medio intervención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892040" y="4261104"/>
            <a:ext cx="3840480" cy="301752"/>
          </a:xfrm>
          <a:prstGeom prst="rect">
            <a:avLst/>
          </a:prstGeom>
          <a:solidFill>
            <a:srgbClr val="0D2240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8" name="Text 46"/>
          <p:cNvSpPr/>
          <p:nvPr/>
        </p:nvSpPr>
        <p:spPr>
          <a:xfrm>
            <a:off x="4983480" y="4261104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pipeline_winner.pkl + predicciones_nuevos_clientes.csv — listo para producción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0" name="Shape 48"/>
          <p:cNvSpPr/>
          <p:nvPr/>
        </p:nvSpPr>
        <p:spPr>
          <a:xfrm>
            <a:off x="0" y="4617720"/>
            <a:ext cx="228600" cy="52578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1" name="Text 49"/>
          <p:cNvSpPr/>
          <p:nvPr/>
        </p:nvSpPr>
        <p:spPr>
          <a:xfrm>
            <a:off x="365760" y="4617720"/>
            <a:ext cx="85953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transforma predicciones de churn en decisiones </a:t>
            </a:r>
            <a:r>
              <a:rPr lang="en-US" sz="1200" b="1" dirty="0" err="1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comerciales</a:t>
            </a: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accionables</a:t>
            </a: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137160"/>
            <a:ext cx="9144000" cy="777240"/>
          </a:xfrm>
          <a:prstGeom prst="rect">
            <a:avLst/>
          </a:prstGeom>
          <a:solidFill>
            <a:srgbClr val="162847"/>
          </a:solidFill>
          <a:ln w="12700">
            <a:solidFill>
              <a:srgbClr val="16284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0" y="137160"/>
            <a:ext cx="320040" cy="77724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457200" y="13716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024128"/>
            <a:ext cx="4114800" cy="1536192"/>
          </a:xfrm>
          <a:prstGeom prst="rect">
            <a:avLst/>
          </a:prstGeom>
          <a:solidFill>
            <a:srgbClr val="162847"/>
          </a:solidFill>
          <a:ln w="12700">
            <a:solidFill>
              <a:srgbClr val="1E3A6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201168" cy="1536192"/>
          </a:xfrm>
          <a:prstGeom prst="rect">
            <a:avLst/>
          </a:prstGeom>
          <a:solidFill>
            <a:srgbClr val="E84A5F"/>
          </a:solidFill>
          <a:ln w="12700">
            <a:solidFill>
              <a:srgbClr val="E84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640080" y="1097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70432" y="11155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precisa del riesgo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1499616"/>
            <a:ext cx="3657600" cy="18288"/>
          </a:xfrm>
          <a:prstGeom prst="rect">
            <a:avLst/>
          </a:prstGeom>
          <a:solidFill>
            <a:srgbClr val="2E4A72"/>
          </a:solidFill>
          <a:ln w="12700">
            <a:solidFill>
              <a:srgbClr val="2E4A7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640080" y="157276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(AUC 0.793) identifica los clientes con mayor probabilidad de abandono. El top 10% concentra el 20.2% del churn, lift 2.16× sobre selección aleatoria.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024128"/>
            <a:ext cx="4114800" cy="1536192"/>
          </a:xfrm>
          <a:prstGeom prst="rect">
            <a:avLst/>
          </a:prstGeom>
          <a:solidFill>
            <a:srgbClr val="162847"/>
          </a:solidFill>
          <a:ln w="12700">
            <a:solidFill>
              <a:srgbClr val="1E3A6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4663440" y="1024128"/>
            <a:ext cx="201168" cy="153619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4937760" y="1097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468112" y="11155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Priorización por impacto económico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37760" y="1499616"/>
            <a:ext cx="3657600" cy="18288"/>
          </a:xfrm>
          <a:prstGeom prst="rect">
            <a:avLst/>
          </a:prstGeom>
          <a:solidFill>
            <a:srgbClr val="2E4A72"/>
          </a:solidFill>
          <a:ln w="12700">
            <a:solidFill>
              <a:srgbClr val="2E4A7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4937760" y="157276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€189K de valor en riesgo identificado. El 87% se concentra en segmentos alto y medio; intervenir masivamente desperdicia presupuesto. Priorizar por EVR multiplica el retorno por €.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2697480"/>
            <a:ext cx="4114800" cy="1536192"/>
          </a:xfrm>
          <a:prstGeom prst="rect">
            <a:avLst/>
          </a:prstGeom>
          <a:solidFill>
            <a:srgbClr val="162847"/>
          </a:solidFill>
          <a:ln w="12700">
            <a:solidFill>
              <a:srgbClr val="1E3A6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365760" y="2697480"/>
            <a:ext cx="201168" cy="153619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640080" y="277063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170432" y="2788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Campañas optimizadas y rentables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3172968"/>
            <a:ext cx="3657600" cy="18288"/>
          </a:xfrm>
          <a:prstGeom prst="rect">
            <a:avLst/>
          </a:prstGeom>
          <a:solidFill>
            <a:srgbClr val="2E4A72"/>
          </a:solidFill>
          <a:ln w="12700">
            <a:solidFill>
              <a:srgbClr val="2E4A7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640080" y="32461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0.028 obtenido maximizando beneficio en validación. ROI medio 6.9× por intervención. Coste de contacto €3.20/cliente frente a €90.55 de margen </a:t>
            </a:r>
            <a:r>
              <a:rPr lang="en-US" sz="10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visita. Ratio 28× en segmento alto.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3440" y="2697480"/>
            <a:ext cx="4114800" cy="1536192"/>
          </a:xfrm>
          <a:prstGeom prst="rect">
            <a:avLst/>
          </a:prstGeom>
          <a:solidFill>
            <a:srgbClr val="162847"/>
          </a:solidFill>
          <a:ln w="12700">
            <a:solidFill>
              <a:srgbClr val="1E3A6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4663440" y="2697480"/>
            <a:ext cx="201168" cy="153619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4937760" y="277063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468112" y="2788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interactivo en producción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937760" y="3172968"/>
            <a:ext cx="3657600" cy="18288"/>
          </a:xfrm>
          <a:prstGeom prst="rect">
            <a:avLst/>
          </a:prstGeom>
          <a:solidFill>
            <a:srgbClr val="2E4A72"/>
          </a:solidFill>
          <a:ln w="12700">
            <a:solidFill>
              <a:srgbClr val="2E4A7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4937760" y="32461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convierte datos en decisiones accionables cada mes: identifica quién retener, cuánto invertir y qué acción asignar. El simulador permite explorar escenarios antes de ejecutar la campaña.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65760" y="4343400"/>
            <a:ext cx="8412480" cy="62179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502920" y="4343400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"Los modelos de datos permiten transformar información de clientes en decisiones comerciales rentables."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905</TotalTime>
  <Words>936</Words>
  <Application>Microsoft Macintosh PowerPoint</Application>
  <PresentationFormat>Presentación en pantalla (16:9)</PresentationFormat>
  <Paragraphs>201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Predicción de Churn y Optimización de Campañas Comerciales</dc:title>
  <dc:subject>PptxGenJS Presentation</dc:subject>
  <dc:creator>PptxGenJS</dc:creator>
  <cp:lastModifiedBy>Maria Muñoz Nadales</cp:lastModifiedBy>
  <cp:revision>12</cp:revision>
  <dcterms:created xsi:type="dcterms:W3CDTF">2026-03-09T16:31:02Z</dcterms:created>
  <dcterms:modified xsi:type="dcterms:W3CDTF">2026-03-17T21:49:22Z</dcterms:modified>
</cp:coreProperties>
</file>